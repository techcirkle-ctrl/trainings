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8E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5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781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E8734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-274320"/>
            <a:ext cx="3291840" cy="3291840"/>
          </a:xfrm>
          <a:prstGeom prst="ellipse">
            <a:avLst/>
          </a:prstGeom>
          <a:solidFill>
            <a:srgbClr val="E8734A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14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CAPABILITY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1371600" cy="3657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77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D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4-Week Program to Build AI Capability in Senior Leaders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Leadership Team for Sandvik •  May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480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equation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Most AI Training Fails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7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and why this program is designed differently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828800" cy="914400"/>
          </a:xfrm>
          <a:prstGeom prst="rect">
            <a:avLst/>
          </a:prstGeom>
          <a:solidFill>
            <a:srgbClr val="1F32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819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7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9842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companies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AI training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258568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DataCamp, 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651760" y="1508760"/>
            <a:ext cx="1828800" cy="914400"/>
          </a:xfrm>
          <a:prstGeom prst="rect">
            <a:avLst/>
          </a:prstGeom>
          <a:solidFill>
            <a:srgbClr val="1F3244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5819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7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51760" y="19842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report 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 gap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51760" y="2258568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DataCamp, 2026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1828800" cy="914400"/>
          </a:xfrm>
          <a:prstGeom prst="rect">
            <a:avLst/>
          </a:prstGeom>
          <a:solidFill>
            <a:srgbClr val="1F324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334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7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0080" y="30358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workers got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at all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310128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ManpowerGroup, 2026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651760" y="2560320"/>
            <a:ext cx="1828800" cy="914400"/>
          </a:xfrm>
          <a:prstGeom prst="rect">
            <a:avLst/>
          </a:prstGeom>
          <a:solidFill>
            <a:srgbClr val="1F3244"/>
          </a:solidFill>
          <a:ln/>
        </p:spPr>
      </p:sp>
      <p:sp>
        <p:nvSpPr>
          <p:cNvPr id="19" name="Text 17"/>
          <p:cNvSpPr/>
          <p:nvPr/>
        </p:nvSpPr>
        <p:spPr>
          <a:xfrm>
            <a:off x="2651760" y="26334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7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2651760" y="30358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companies reach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value at scale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51760" y="3310128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BCG, 2025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846320" y="1234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FAILS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1508760"/>
            <a:ext cx="3840480" cy="2103120"/>
          </a:xfrm>
          <a:prstGeom prst="rect">
            <a:avLst/>
          </a:prstGeom>
          <a:solidFill>
            <a:srgbClr val="1F3244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1508760"/>
            <a:ext cx="54864" cy="21031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1645920"/>
            <a:ext cx="3520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“For a lot of students,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was a non-event.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just didn’t use it.”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74920" y="2651760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Sal Khan on Khanmigo, April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74920" y="292608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best-funded AI tutor in the world failed because learners had no structure, no accountability, no reason to engage. The tool wasn’t the problem. The design was.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3794760"/>
            <a:ext cx="8046720" cy="18288"/>
          </a:xfrm>
          <a:prstGeom prst="rect">
            <a:avLst/>
          </a:prstGeom>
          <a:solidFill>
            <a:srgbClr val="E8734A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931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41605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without context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440740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5720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embedded in real decisions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697480" y="41605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without workflow change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697480" y="440740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697480" y="45720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through simulated work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54880" y="41605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without practice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0" y="440740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4880" y="45720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building every week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12280" y="41605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without follow-through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12280" y="440740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812280" y="45720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Post-program check-ins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Learning Philosophy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132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principles that shape every program we design.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78638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097280"/>
            <a:ext cx="54864" cy="65836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43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143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by doing, not watching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Flipped classroom over lectures. Simulations over case studies. Timed challenges over slide decks. If a participant hasn’t used AI to make a real decision during the program, we haven’t done our job.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937760" y="1188720"/>
            <a:ext cx="18288" cy="502920"/>
          </a:xfrm>
          <a:prstGeom prst="rect">
            <a:avLst/>
          </a:prstGeom>
          <a:solidFill>
            <a:srgbClr val="E8DFD6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1887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BCG: Persona-based, applied learning delivers 20x higher adoption than generic training.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1847088"/>
            <a:ext cx="78638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847088"/>
            <a:ext cx="54864" cy="658368"/>
          </a:xfrm>
          <a:prstGeom prst="rect">
            <a:avLst/>
          </a:prstGeom>
          <a:solidFill>
            <a:srgbClr val="1B8E8E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" y="189280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8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18928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 in workflow, don’t add to 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21671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capability isn’t a course you take — it’s a way you work. Every exercise uses the participant’s actual role and actual problems.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37760" y="1938528"/>
            <a:ext cx="18288" cy="502920"/>
          </a:xfrm>
          <a:prstGeom prst="rect">
            <a:avLst/>
          </a:prstGeom>
          <a:solidFill>
            <a:srgbClr val="E8DFD6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193852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McKinsey: Understanding how to work with technology to create value matters more than understanding the technology itself.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" y="2596896"/>
            <a:ext cx="78638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596896"/>
            <a:ext cx="54864" cy="65836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800100" y="26426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264261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Customise ruthlessly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29169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programs produce generic results. A GCC head gets GCC scenarios. A developer gets code. Every design decision is client-specific.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937760" y="2688336"/>
            <a:ext cx="18288" cy="502920"/>
          </a:xfrm>
          <a:prstGeom prst="rect">
            <a:avLst/>
          </a:prstGeom>
          <a:solidFill>
            <a:srgbClr val="E8DFD6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268833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DataCamp: 82% offer AI training. 59% still have a skills gap. The gap is not access — it’s relevance.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0080" y="3346704"/>
            <a:ext cx="78638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3346704"/>
            <a:ext cx="54864" cy="658368"/>
          </a:xfrm>
          <a:prstGeom prst="rect">
            <a:avLst/>
          </a:prstGeom>
          <a:solidFill>
            <a:srgbClr val="1B8E8E"/>
          </a:solidFill>
          <a:ln/>
        </p:spPr>
      </p:sp>
      <p:sp>
        <p:nvSpPr>
          <p:cNvPr id="28" name="Text 26"/>
          <p:cNvSpPr/>
          <p:nvPr/>
        </p:nvSpPr>
        <p:spPr>
          <a:xfrm>
            <a:off x="800100" y="339242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8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25880" y="33924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through or fail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25880" y="366674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part isn’t the workshop — it’s the weeks after. Without accountability and support, enthusiasm fades and habits don’t form. We stay in the picture.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937760" y="3438144"/>
            <a:ext cx="18288" cy="502920"/>
          </a:xfrm>
          <a:prstGeom prst="rect">
            <a:avLst/>
          </a:prstGeom>
          <a:solidFill>
            <a:srgbClr val="E8DFD6"/>
          </a:solidFill>
          <a:ln/>
        </p:spPr>
      </p:sp>
      <p:sp>
        <p:nvSpPr>
          <p:cNvPr id="32" name="Text 30"/>
          <p:cNvSpPr/>
          <p:nvPr/>
        </p:nvSpPr>
        <p:spPr>
          <a:xfrm>
            <a:off x="5074920" y="343814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 Khan, 2026: Even the world’s best AI tutor failed when it was left “sitting in the back of the room.”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40080" y="4096512"/>
            <a:ext cx="78638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" y="4096512"/>
            <a:ext cx="54864" cy="65836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5" name="Text 33"/>
          <p:cNvSpPr/>
          <p:nvPr/>
        </p:nvSpPr>
        <p:spPr>
          <a:xfrm>
            <a:off x="800100" y="41422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325880" y="41422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 capability, not completion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325880" y="44165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don’t count hours watched or badges earned. We measure: Can you use AI to make a better decision? Can you build an agent for your workflow? Can you lead an AI project?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937760" y="4187952"/>
            <a:ext cx="18288" cy="502920"/>
          </a:xfrm>
          <a:prstGeom prst="rect">
            <a:avLst/>
          </a:prstGeom>
          <a:solidFill>
            <a:srgbClr val="E8DFD6"/>
          </a:solidFill>
          <a:ln/>
        </p:spPr>
      </p:sp>
      <p:sp>
        <p:nvSpPr>
          <p:cNvPr id="39" name="Text 37"/>
          <p:cNvSpPr/>
          <p:nvPr/>
        </p:nvSpPr>
        <p:spPr>
          <a:xfrm>
            <a:off x="5074920" y="418795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ManpowerGroup: 56% got no training. Of those who did, confidence in AI still dropped 18%. Hours ≠ capability.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0" y="4828032"/>
            <a:ext cx="9144000" cy="4572"/>
          </a:xfrm>
          <a:prstGeom prst="rect">
            <a:avLst/>
          </a:prstGeom>
          <a:solidFill>
            <a:srgbClr val="E8DFD6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equation  •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Your Team Has Done  •  What This Program Does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822960"/>
          <a:ext cx="7863840" cy="272491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5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Leadership Workshop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5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 — March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4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8E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Program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B8E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Half-day workshop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people, broad team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4-week structured program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nominated senior leaders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depth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AI, ML, GenAI, LLM?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Vocabulary and mental models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architectures, agentic systems,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multi-agent, RAG deep dive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vs bad examples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(shown, not practised)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reusable prompt systems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your workflows (hands-on)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Mentioned briefly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(~10 min overview)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deep dive: agent lifecycle,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frameworks, MCP, tool use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one-time session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homework + build sprints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from your GCC context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vocabulary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7F8C8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Awareness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agents built by participants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AI project leadership capability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87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workshop taught them to read the menu. This program teaches them to cook.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0" y="4828032"/>
            <a:ext cx="9144000" cy="4572"/>
          </a:xfrm>
          <a:prstGeom prst="rect">
            <a:avLst/>
          </a:prstGeom>
          <a:solidFill>
            <a:srgbClr val="E8DFD6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equation  •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4-Week Program Structure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week follows the same rhythm: Pre-work → Session (5 hrs) → Homework. Built on a flipped classroom model.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828800" cy="2377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097280"/>
            <a:ext cx="1828800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3533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Foundations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1737360"/>
            <a:ext cx="1280160" cy="274320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7647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14884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ML to multi-agent.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evolution stack.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+ RAG.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51760" y="1097280"/>
            <a:ext cx="1828800" cy="2377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651760" y="1097280"/>
            <a:ext cx="1828800" cy="50292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1430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13533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Deep Dive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0" y="1737360"/>
            <a:ext cx="1280160" cy="274320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17647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88920" y="214884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lifecycle, architectures, tools, memory. Build your first agent on Claude.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097280"/>
            <a:ext cx="1828800" cy="2377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0" y="1097280"/>
            <a:ext cx="1828800" cy="502920"/>
          </a:xfrm>
          <a:prstGeom prst="rect">
            <a:avLst/>
          </a:prstGeom>
          <a:solidFill>
            <a:srgbClr val="1B8E8E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1430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13533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Building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1737360"/>
            <a:ext cx="1280160" cy="274320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7647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B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214884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prompts, workflows, knowledge integration. Build 2 agents in the session.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75120" y="1097280"/>
            <a:ext cx="1828800" cy="2377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675120" y="1097280"/>
            <a:ext cx="1828800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11430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75120" y="13533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&amp; Lead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949440" y="1737360"/>
            <a:ext cx="1280160" cy="274320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17647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12280" y="2148840"/>
            <a:ext cx="1554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agent + 90-day AI project plan to lead in your function.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40080" y="3657600"/>
            <a:ext cx="7863840" cy="8275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37033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RHYTHM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2960" y="39319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8C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Pre-work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 courses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PE reading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108960" y="3931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749040" y="39319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7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74904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hrs trainer-led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Flipped classroom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035040" y="3931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00800" y="39319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8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/ apply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artifact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40080" y="4389120"/>
            <a:ext cx="7863840" cy="4572"/>
          </a:xfrm>
          <a:prstGeom prst="rect">
            <a:avLst/>
          </a:prstGeom>
          <a:solidFill>
            <a:srgbClr val="E8DFD6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446227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4 weeks:  2 fortnightly check-ins (1 hr each) with trainer to ensure AI practices are landing in real workflow.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828032"/>
            <a:ext cx="9144000" cy="4572"/>
          </a:xfrm>
          <a:prstGeom prst="rect">
            <a:avLst/>
          </a:prstGeom>
          <a:solidFill>
            <a:srgbClr val="E8DFD6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equation  •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Foundations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937760" y="731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ML to Multi-Agent — the conceptual map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37760" y="3474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Understand the full AI stack: LLM → RAG → Agents with tools → Multi-agent systems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2468880" cy="3794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914400"/>
            <a:ext cx="2468880" cy="29260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9509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PRE-WORK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950976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hrs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3258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15270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Generative AI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7830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11480" y="19659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1480" y="21671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Large Language Models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42316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11480" y="26060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28072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Responsible AI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306324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11480" y="32461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" y="34472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AI Agents (conceptual)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370332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11480" y="38862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Reading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1480" y="40873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Evolution Stack: LLM → RAG → Agents → Multi-Agent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434340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880360" y="914400"/>
            <a:ext cx="3657600" cy="3794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880360" y="914400"/>
            <a:ext cx="3657600" cy="2926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3017520" y="9509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017520" y="95097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hrs trainer-led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017520" y="1389888"/>
            <a:ext cx="411480" cy="20116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32" name="Text 30"/>
          <p:cNvSpPr/>
          <p:nvPr/>
        </p:nvSpPr>
        <p:spPr>
          <a:xfrm>
            <a:off x="3017520" y="138988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520440" y="137160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Pre-work debrief + LLMs deeper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20440" y="15727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Level-set on AI/ML/GenAI/LLM. Transformer architecture, attention, context windows, model selection (Claude family).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017520" y="2029968"/>
            <a:ext cx="411480" cy="20116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36" name="Text 34"/>
          <p:cNvSpPr/>
          <p:nvPr/>
        </p:nvSpPr>
        <p:spPr>
          <a:xfrm>
            <a:off x="3017520" y="202996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520440" y="201168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Evolution Stack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520440" y="22128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→ RAG → Agents with tools → Multi-agent. Backbone of the program.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017520" y="2670048"/>
            <a:ext cx="411480" cy="20116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40" name="Text 38"/>
          <p:cNvSpPr/>
          <p:nvPr/>
        </p:nvSpPr>
        <p:spPr>
          <a:xfrm>
            <a:off x="3017520" y="267004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520440" y="265176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masterclass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520440" y="285292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prompt design. Hands-on: 3 prompts per participant on Claude.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017520" y="3310128"/>
            <a:ext cx="411480" cy="20116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44" name="Text 42"/>
          <p:cNvSpPr/>
          <p:nvPr/>
        </p:nvSpPr>
        <p:spPr>
          <a:xfrm>
            <a:off x="3017520" y="331012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520440" y="329184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deep dive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520440" y="349300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retrieval-augmented generation works. Live demo with Claude Project on sample docs.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017520" y="3950208"/>
            <a:ext cx="411480" cy="20116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48" name="Text 46"/>
          <p:cNvSpPr/>
          <p:nvPr/>
        </p:nvSpPr>
        <p:spPr>
          <a:xfrm>
            <a:off x="3017520" y="395020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520440" y="39319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of agents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520440" y="413308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an agent vs a chatbot. Each participant writes a 1-paragraph agent spec for Week 2.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675120" y="914400"/>
            <a:ext cx="2331720" cy="3794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6675120" y="914400"/>
            <a:ext cx="2331720" cy="29260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53" name="Text 51"/>
          <p:cNvSpPr/>
          <p:nvPr/>
        </p:nvSpPr>
        <p:spPr>
          <a:xfrm>
            <a:off x="6812280" y="9509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812280" y="950976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hrs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12280" y="1325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the Stack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812280" y="1755648"/>
            <a:ext cx="54864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7" name="Text 55"/>
          <p:cNvSpPr/>
          <p:nvPr/>
        </p:nvSpPr>
        <p:spPr>
          <a:xfrm>
            <a:off x="6812280" y="187452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real complex problem from your function. Decompose it across the AI stack: which parts need prompts alone? RAG? Agents? Multi-agent?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3 production-quality prompts for the LLM-only parts and test on Claude. Spec the RAG and agent components.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812280" y="388620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812280" y="40690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2-page architecture document showing how you’d solve the whole problem across the stack.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0" y="4828032"/>
            <a:ext cx="9144000" cy="4572"/>
          </a:xfrm>
          <a:prstGeom prst="rect">
            <a:avLst/>
          </a:prstGeom>
          <a:solidFill>
            <a:srgbClr val="E8DFD6"/>
          </a:solidFill>
          <a:ln/>
        </p:spPr>
      </p:sp>
      <p:sp>
        <p:nvSpPr>
          <p:cNvPr id="61" name="Text 59"/>
          <p:cNvSpPr/>
          <p:nvPr/>
        </p:nvSpPr>
        <p:spPr>
          <a:xfrm>
            <a:off x="640080" y="4864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equation  •  AI Capability Program  •  Week 1 of 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77724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Deep Dive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937760" y="731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agents actually work — architectures, tools, memory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37760" y="3474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Understand agent lifecycle, architectures, tool use, memory. Build first agent on Claude.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2468880" cy="3794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914400"/>
            <a:ext cx="2468880" cy="29260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9509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PRE-WORK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950976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~4.5 hrs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3258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15270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Effective Agents (essay)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7830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11480" y="19659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DeepLearning.AI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1480" y="21671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Agentic Design Patterns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42316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hrs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11480" y="26060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28072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docs: Tool Use &amp; Agents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306324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11480" y="32461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DeepLearning.AI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" y="34472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Multi-AI Agent Systems (selected)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370332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11480" y="38862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Reading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1480" y="40873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Architectures: ReAct, Plan-Execute, Multi-Agent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434340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880360" y="914400"/>
            <a:ext cx="3657600" cy="3794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880360" y="914400"/>
            <a:ext cx="3657600" cy="29260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9" name="Text 27"/>
          <p:cNvSpPr/>
          <p:nvPr/>
        </p:nvSpPr>
        <p:spPr>
          <a:xfrm>
            <a:off x="3017520" y="9509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017520" y="95097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hrs trainer-led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017520" y="1389888"/>
            <a:ext cx="411480" cy="20116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32" name="Text 30"/>
          <p:cNvSpPr/>
          <p:nvPr/>
        </p:nvSpPr>
        <p:spPr>
          <a:xfrm>
            <a:off x="3017520" y="138988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520440" y="137160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Pre-work + Wk 1 homework debrief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20440" y="15727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architecture docs. Group critique of stack-mapping exercise.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017520" y="2029968"/>
            <a:ext cx="411480" cy="20116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36" name="Text 34"/>
          <p:cNvSpPr/>
          <p:nvPr/>
        </p:nvSpPr>
        <p:spPr>
          <a:xfrm>
            <a:off x="3017520" y="202996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520440" y="201168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lifecycle + architectures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520440" y="22128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→ build → test → deploy → monitor. ReAct, Plan-and-Execute, Reflection, Multi-agent orchestration.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017520" y="2670048"/>
            <a:ext cx="411480" cy="20116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40" name="Text 38"/>
          <p:cNvSpPr/>
          <p:nvPr/>
        </p:nvSpPr>
        <p:spPr>
          <a:xfrm>
            <a:off x="3017520" y="267004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520440" y="265176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— how agents use them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520440" y="285292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calling, MCP overview. Live demo: Claude agent using tools for multi-step task.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017520" y="3310128"/>
            <a:ext cx="411480" cy="20116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44" name="Text 42"/>
          <p:cNvSpPr/>
          <p:nvPr/>
        </p:nvSpPr>
        <p:spPr>
          <a:xfrm>
            <a:off x="3017520" y="331012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520440" y="329184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state management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520440" y="349300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vs long-term, context windows. Live demo with persistent Claude Projects.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017520" y="3950208"/>
            <a:ext cx="411480" cy="20116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48" name="Text 46"/>
          <p:cNvSpPr/>
          <p:nvPr/>
        </p:nvSpPr>
        <p:spPr>
          <a:xfrm>
            <a:off x="3017520" y="395020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520440" y="39319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agent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520440" y="413308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participant builds v1 of their Week 1 agent spec on Claude. Trainer coaches.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675120" y="914400"/>
            <a:ext cx="2331720" cy="3794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6675120" y="914400"/>
            <a:ext cx="2331720" cy="29260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53" name="Text 51"/>
          <p:cNvSpPr/>
          <p:nvPr/>
        </p:nvSpPr>
        <p:spPr>
          <a:xfrm>
            <a:off x="6812280" y="9509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812280" y="950976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hrs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12280" y="1325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Defined Agent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812280" y="1755648"/>
            <a:ext cx="548640" cy="2743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7" name="Text 55"/>
          <p:cNvSpPr/>
          <p:nvPr/>
        </p:nvSpPr>
        <p:spPr>
          <a:xfrm>
            <a:off x="6812280" y="187452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 a provided spec sheet (Engineering Change Request Reviewer, Customer Escalation Triage, Meeting Decision Tracker, Vendor Proposal Analyser).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agent in Claude Projects with system prompts, tools, and knowledge. Test with 3 real inputs.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812280" y="388620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812280" y="40690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Claude Project link + 1-page design doc (system prompt with annotations, design decisions, failure modes, improvements).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0" y="4828032"/>
            <a:ext cx="9144000" cy="4572"/>
          </a:xfrm>
          <a:prstGeom prst="rect">
            <a:avLst/>
          </a:prstGeom>
          <a:solidFill>
            <a:srgbClr val="E8DFD6"/>
          </a:solidFill>
          <a:ln/>
        </p:spPr>
      </p:sp>
      <p:sp>
        <p:nvSpPr>
          <p:cNvPr id="61" name="Text 59"/>
          <p:cNvSpPr/>
          <p:nvPr/>
        </p:nvSpPr>
        <p:spPr>
          <a:xfrm>
            <a:off x="640080" y="4864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equation  •  AI Capability Program  •  Week 2 of 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777240"/>
          </a:xfrm>
          <a:prstGeom prst="rect">
            <a:avLst/>
          </a:prstGeom>
          <a:solidFill>
            <a:srgbClr val="1B8E8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Agent Building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937760" y="731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Practice, iteration, and depth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37760" y="3474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Build multiple agents of increasing complexity. Master system prompts, chains, tool integration.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2468880" cy="3794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914400"/>
            <a:ext cx="2468880" cy="29260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9509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PRE-WORK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950976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B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hrs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3258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15270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guide (deep)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7830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11480" y="19659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1480" y="21671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Projects documentation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42316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11480" y="26060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28072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 Skills overview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306324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11480" y="32461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DeepLearning.AI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" y="34472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 (selected)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370332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hr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11480" y="38862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1480" y="40873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3 real use cases from your work. Write 1-para brief for each.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434340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880360" y="914400"/>
            <a:ext cx="3657600" cy="3794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2880360" y="914400"/>
            <a:ext cx="3657600" cy="292608"/>
          </a:xfrm>
          <a:prstGeom prst="rect">
            <a:avLst/>
          </a:prstGeom>
          <a:solidFill>
            <a:srgbClr val="1B8E8E"/>
          </a:solidFill>
          <a:ln/>
        </p:spPr>
      </p:sp>
      <p:sp>
        <p:nvSpPr>
          <p:cNvPr id="29" name="Text 27"/>
          <p:cNvSpPr/>
          <p:nvPr/>
        </p:nvSpPr>
        <p:spPr>
          <a:xfrm>
            <a:off x="3017520" y="9509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017520" y="95097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hrs trainer-led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017520" y="1389888"/>
            <a:ext cx="411480" cy="20116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32" name="Text 30"/>
          <p:cNvSpPr/>
          <p:nvPr/>
        </p:nvSpPr>
        <p:spPr>
          <a:xfrm>
            <a:off x="3017520" y="138988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520440" y="137160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Pre-work + Wk 2 homework debrief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20440" y="15727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of defined agents. What worked? What broke? Why?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017520" y="2029968"/>
            <a:ext cx="411480" cy="20116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36" name="Text 34"/>
          <p:cNvSpPr/>
          <p:nvPr/>
        </p:nvSpPr>
        <p:spPr>
          <a:xfrm>
            <a:off x="3017520" y="202996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520440" y="201168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masterclass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520440" y="22128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Persona, constraints, knowledge boundaries, output formats, guardrails. Rewrite your Wk 2 agent.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017520" y="2670048"/>
            <a:ext cx="411480" cy="20116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40" name="Text 38"/>
          <p:cNvSpPr/>
          <p:nvPr/>
        </p:nvSpPr>
        <p:spPr>
          <a:xfrm>
            <a:off x="3017520" y="267004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520440" y="265176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Workflows, chains &amp; knowledge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520440" y="285292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logic, sequential agents, multi-step prompts. Connecting agents to docs, tools, MCP in practice.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017520" y="3310128"/>
            <a:ext cx="411480" cy="20116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44" name="Text 42"/>
          <p:cNvSpPr/>
          <p:nvPr/>
        </p:nvSpPr>
        <p:spPr>
          <a:xfrm>
            <a:off x="3017520" y="331012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520440" y="329184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Sprint 1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520440" y="349300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1 of your 3 use cases. Full hands-on build. Trainer 1:1 coaching. Peer review in pairs.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017520" y="3950208"/>
            <a:ext cx="411480" cy="20116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48" name="Text 46"/>
          <p:cNvSpPr/>
          <p:nvPr/>
        </p:nvSpPr>
        <p:spPr>
          <a:xfrm>
            <a:off x="3017520" y="395020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520440" y="39319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Sprint 2 + demos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520440" y="413308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second agent. Apply lessons from Sprint 1. Each demos stronger agent (3 min each).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675120" y="914400"/>
            <a:ext cx="2331720" cy="3794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50"/>
          <p:cNvSpPr/>
          <p:nvPr/>
        </p:nvSpPr>
        <p:spPr>
          <a:xfrm>
            <a:off x="6675120" y="914400"/>
            <a:ext cx="2331720" cy="29260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53" name="Text 51"/>
          <p:cNvSpPr/>
          <p:nvPr/>
        </p:nvSpPr>
        <p:spPr>
          <a:xfrm>
            <a:off x="6812280" y="9509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812280" y="950976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B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12280" y="1325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8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 for Capstone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6812280" y="1755648"/>
            <a:ext cx="548640" cy="27432"/>
          </a:xfrm>
          <a:prstGeom prst="rect">
            <a:avLst/>
          </a:prstGeom>
          <a:solidFill>
            <a:srgbClr val="1B8E8E"/>
          </a:solidFill>
          <a:ln/>
        </p:spPr>
      </p:sp>
      <p:sp>
        <p:nvSpPr>
          <p:cNvPr id="57" name="Text 55"/>
          <p:cNvSpPr/>
          <p:nvPr/>
        </p:nvSpPr>
        <p:spPr>
          <a:xfrm>
            <a:off x="6812280" y="187452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use case with the most organisational impact (not just personal productivity).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v0 specification: users, problem, success criteria, data, guardrails. Build the v1 prototype. Get feedback from 1 colleague.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812280" y="388620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812280" y="40690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+ spec document + colleague feedback notes. Bring to Week 4.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0" y="4828032"/>
            <a:ext cx="9144000" cy="4572"/>
          </a:xfrm>
          <a:prstGeom prst="rect">
            <a:avLst/>
          </a:prstGeom>
          <a:solidFill>
            <a:srgbClr val="E8DFD6"/>
          </a:solidFill>
          <a:ln/>
        </p:spPr>
      </p:sp>
      <p:sp>
        <p:nvSpPr>
          <p:cNvPr id="61" name="Text 59"/>
          <p:cNvSpPr/>
          <p:nvPr/>
        </p:nvSpPr>
        <p:spPr>
          <a:xfrm>
            <a:off x="640080" y="4864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equation  •  AI Capability Program  •  Week 3 of 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777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315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&amp; Lead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937760" y="7315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agents and leading AI in the org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37760" y="3474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Build a production-grade agent. Become a functional AI leader who can run org-wide projects.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2468880" cy="3794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914400"/>
            <a:ext cx="2468880" cy="29260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9509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PRE-WORK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950976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hrs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13258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15270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Wk 3 prototype based on colleague feedback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7830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hrs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11480" y="196596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Reading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11480" y="216712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and scaling AI agents in your team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242316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11480" y="26060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Reading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28072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AI projects: from prototype to production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306324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11480" y="32461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" y="344728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learnings from Weeks 1-3 (key frameworks, patterns)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370332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11480" y="38862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1480" y="40873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 presentation of your prototype for morning session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880360" y="914400"/>
            <a:ext cx="3657600" cy="3794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2880360" y="914400"/>
            <a:ext cx="3657600" cy="2926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0" y="9509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017520" y="95097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hrs trainer-led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017520" y="1389888"/>
            <a:ext cx="411480" cy="20116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31" name="Text 29"/>
          <p:cNvSpPr/>
          <p:nvPr/>
        </p:nvSpPr>
        <p:spPr>
          <a:xfrm>
            <a:off x="3017520" y="138988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520440" y="137160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presentations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520440" y="157276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participant presents prototype (5 min) + group Q&amp;A. Trainer identifies strongest path forward.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017520" y="2029968"/>
            <a:ext cx="411480" cy="20116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35" name="Text 33"/>
          <p:cNvSpPr/>
          <p:nvPr/>
        </p:nvSpPr>
        <p:spPr>
          <a:xfrm>
            <a:off x="3017520" y="202996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520440" y="201168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Sprint: Production-Ready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520440" y="221284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to production quality. Edge cases, guardrails, output quality. Pair testing — break each other’s agents.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017520" y="2670048"/>
            <a:ext cx="411480" cy="20116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39" name="Text 37"/>
          <p:cNvSpPr/>
          <p:nvPr/>
        </p:nvSpPr>
        <p:spPr>
          <a:xfrm>
            <a:off x="3017520" y="267004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520440" y="265176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organisation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520440" y="285292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for AI. Training your team. Measuring impact. Org barrier discussion.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017520" y="3310128"/>
            <a:ext cx="411480" cy="20116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43" name="Text 41"/>
          <p:cNvSpPr/>
          <p:nvPr/>
        </p:nvSpPr>
        <p:spPr>
          <a:xfrm>
            <a:off x="3017520" y="331012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520440" y="329184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project leadership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520440" y="349300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Scoping, proposing, running AI initiatives. Each leader drafts 1-page proposal for a 90-day AI project.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017520" y="3950208"/>
            <a:ext cx="411480" cy="20116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47" name="Text 45"/>
          <p:cNvSpPr/>
          <p:nvPr/>
        </p:nvSpPr>
        <p:spPr>
          <a:xfrm>
            <a:off x="3017520" y="3950208"/>
            <a:ext cx="411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520440" y="3931920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presentations + commitments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520440" y="413308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presents: production agent, 30-day deployment plan, 90-day project, what they need from the org.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675120" y="914400"/>
            <a:ext cx="2331720" cy="3794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6675120" y="914400"/>
            <a:ext cx="2331720" cy="292608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52" name="Text 50"/>
          <p:cNvSpPr/>
          <p:nvPr/>
        </p:nvSpPr>
        <p:spPr>
          <a:xfrm>
            <a:off x="6812280" y="9509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12280" y="950976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days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812280" y="1325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Lead, Don’t Just Use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6812280" y="1755648"/>
            <a:ext cx="548640" cy="274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6" name="Text 54"/>
          <p:cNvSpPr/>
          <p:nvPr/>
        </p:nvSpPr>
        <p:spPr>
          <a:xfrm>
            <a:off x="6812280" y="187452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your agent into your team’s real workflow within 7 days.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executing your 90-day AI project plan. Document what’s working, failing, changing, and what impact you’re seeing.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812280" y="388620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812280" y="40690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organisational results. Feeds the 2 fortnightly post-program check-ins with the trainer.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0" y="4828032"/>
            <a:ext cx="9144000" cy="4572"/>
          </a:xfrm>
          <a:prstGeom prst="rect">
            <a:avLst/>
          </a:prstGeom>
          <a:solidFill>
            <a:srgbClr val="E8DFD6"/>
          </a:solidFill>
          <a:ln/>
        </p:spPr>
      </p:sp>
      <p:sp>
        <p:nvSpPr>
          <p:cNvPr id="60" name="Text 58"/>
          <p:cNvSpPr/>
          <p:nvPr/>
        </p:nvSpPr>
        <p:spPr>
          <a:xfrm>
            <a:off x="640080" y="4864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equation  •  AI Capability Program  •  Week 4 of 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E8734A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804672"/>
            <a:ext cx="1828800" cy="3657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06984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participants &amp; start date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30759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nominated senior GCC leaders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161848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shares Week 1 pre-work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185623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learning path with direct enrolment links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1488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216712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session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40487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Foundations: AI evolution stack, prompt engineering, RAG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6974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271576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rhythm continues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295351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Pre-work → 5-hr session → homework, each week building on the last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2461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80160" y="326440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Build &amp; Lead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350215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leader builds a production-ready agent + 90-day AI project plan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7947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7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80160" y="381304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wider GCC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405079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program rolled out to the broader organisation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434840"/>
            <a:ext cx="7863840" cy="18288"/>
          </a:xfrm>
          <a:prstGeom prst="rect">
            <a:avLst/>
          </a:prstGeom>
          <a:solidFill>
            <a:srgbClr val="E8734A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526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Deepak Singh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473659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CPTO, People Equation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CAAA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F8C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 —  Google Cloud Courses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8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free on Google Cloud Skills Boost. Used in Week 1.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8046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3327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8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Generative 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10515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hr  •  Free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30759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generative AI is vs traditional AI • How models work • Model types: text, image, audio, video • Real-world applications • Google’s responsible AI approach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8229600" cy="804672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4767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8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Large Language Models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19659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hr  •  Free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22199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LLMs are vs traditional ML • Training (tokens, attention, transformers) • Use cases: generation, summarisation, Q&amp;A • Prompt tuning • Vertex AI tools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8229600" cy="8046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6207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8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Responsible AI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8803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hr  •  Free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13639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responsible AI matters • Google’s 7 AI principles • Bias detection and mitigation • Transparency and explainability • Practical deployment frameworks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8229600" cy="804672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7647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8E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AI Agents (conceptual)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37947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hr  •  Free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405079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agents are vs chatbots • Architectures: reasoning, planning, tool use • External system interaction • Governance and safety • Enterprise use cases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828032"/>
            <a:ext cx="9144000" cy="4572"/>
          </a:xfrm>
          <a:prstGeom prst="rect">
            <a:avLst/>
          </a:prstGeom>
          <a:solidFill>
            <a:srgbClr val="E8DFD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equation  •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CAAA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F8C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 —  Anthropic + DeepLearning.AI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free. Used in Weeks 2 and 3 for agentic AI deep dive and building.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6675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117043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Effective Agents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00584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 reading  •  Free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essay on agent design patterns. Vendor-neutral framework for when to use simple workflows vs autonomous agents. Required reading.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709928"/>
            <a:ext cx="8229600" cy="667512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556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DeepLearning.AI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Agentic Design Patterns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175564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hrs  •  Free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" y="21214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Vendor-neutral framework covering reflection, tool use, planning, and multi-agent collaboration patterns. Short course.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459736"/>
            <a:ext cx="8229600" cy="6675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0545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267004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Docs: Tool Use &amp; Agents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50545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hr  •  Free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" y="287121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Claude specifically handles tools, memory, function calling. Practical and Claude-relevant since you’re using Claude as the AI engine.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3209544"/>
            <a:ext cx="8229600" cy="667512"/>
          </a:xfrm>
          <a:prstGeom prst="rect">
            <a:avLst/>
          </a:prstGeom>
          <a:solidFill>
            <a:srgbClr val="F5EDE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552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DeepLearning.AI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" y="341985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Multi-AI Agent Systems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325526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hr selected modules  •  Free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0080" y="362102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multiple agents collaborate, orchestration patterns, when multi-agent makes sense vs single agent.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959352"/>
            <a:ext cx="8229600" cy="6675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0050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" y="416966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Anthropic Prompt Engineering Guide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400507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hr  •  Free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0080" y="43708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deep guide on prompting Claude: system prompts, prompt chaining, multi-shot, XML tags. Used in Week 3.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0" y="4828032"/>
            <a:ext cx="9144000" cy="4572"/>
          </a:xfrm>
          <a:prstGeom prst="rect">
            <a:avLst/>
          </a:prstGeom>
          <a:solidFill>
            <a:srgbClr val="E8DFD6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864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equation  •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2429</Words>
  <Application>Microsoft Macintosh PowerPoint</Application>
  <PresentationFormat>On-screen Show (16:9)</PresentationFormat>
  <Paragraphs>395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deepak singh</cp:lastModifiedBy>
  <cp:revision>5</cp:revision>
  <dcterms:created xsi:type="dcterms:W3CDTF">2026-05-27T09:51:05Z</dcterms:created>
  <dcterms:modified xsi:type="dcterms:W3CDTF">2026-06-02T11:59:53Z</dcterms:modified>
</cp:coreProperties>
</file>